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Layouts/slideLayout1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452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11" Type="http://schemas.openxmlformats.org/officeDocument/2006/relationships/customXml" Target="../customXml/item3.xml"/><Relationship Id="rId5" Type="http://schemas.openxmlformats.org/officeDocument/2006/relationships/presProps" Target="presProps.xml"/><Relationship Id="rId10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customXml" Target="../customXml/item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35FD29-9816-4AFD-8437-4135D9FD61B9}" type="datetimeFigureOut">
              <a:rPr lang="en-US" smtClean="0"/>
              <a:t>1/21/2022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4C46A-2273-46A0-9001-F00602A28C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857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35FD29-9816-4AFD-8437-4135D9FD61B9}" type="datetimeFigureOut">
              <a:rPr lang="en-US" smtClean="0"/>
              <a:t>1/21/2022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4C46A-2273-46A0-9001-F00602A28C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8070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35FD29-9816-4AFD-8437-4135D9FD61B9}" type="datetimeFigureOut">
              <a:rPr lang="en-US" smtClean="0"/>
              <a:t>1/21/2022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4C46A-2273-46A0-9001-F00602A28C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8116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35FD29-9816-4AFD-8437-4135D9FD61B9}" type="datetimeFigureOut">
              <a:rPr lang="en-US" smtClean="0"/>
              <a:t>1/21/2022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4C46A-2273-46A0-9001-F00602A28C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5706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35FD29-9816-4AFD-8437-4135D9FD61B9}" type="datetimeFigureOut">
              <a:rPr lang="en-US" smtClean="0"/>
              <a:t>1/21/2022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4C46A-2273-46A0-9001-F00602A28C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4057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35FD29-9816-4AFD-8437-4135D9FD61B9}" type="datetimeFigureOut">
              <a:rPr lang="en-US" smtClean="0"/>
              <a:t>1/21/2022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4C46A-2273-46A0-9001-F00602A28C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3649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35FD29-9816-4AFD-8437-4135D9FD61B9}" type="datetimeFigureOut">
              <a:rPr lang="en-US" smtClean="0"/>
              <a:t>1/21/2022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4C46A-2273-46A0-9001-F00602A28C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8578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35FD29-9816-4AFD-8437-4135D9FD61B9}" type="datetimeFigureOut">
              <a:rPr lang="en-US" smtClean="0"/>
              <a:t>1/21/2022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4C46A-2273-46A0-9001-F00602A28C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6626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35FD29-9816-4AFD-8437-4135D9FD61B9}" type="datetimeFigureOut">
              <a:rPr lang="en-US" smtClean="0"/>
              <a:t>1/21/2022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4C46A-2273-46A0-9001-F00602A28C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2341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35FD29-9816-4AFD-8437-4135D9FD61B9}" type="datetimeFigureOut">
              <a:rPr lang="en-US" smtClean="0"/>
              <a:t>1/21/2022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4C46A-2273-46A0-9001-F00602A28C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2391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35FD29-9816-4AFD-8437-4135D9FD61B9}" type="datetimeFigureOut">
              <a:rPr lang="en-US" smtClean="0"/>
              <a:t>1/21/2022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4C46A-2273-46A0-9001-F00602A28C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8654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35FD29-9816-4AFD-8437-4135D9FD61B9}" type="datetimeFigureOut">
              <a:rPr lang="en-US" smtClean="0"/>
              <a:t>1/21/2022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14C46A-2273-46A0-9001-F00602A28C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02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Lab Exercise 2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Solar Pond Data Frame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01029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C00000"/>
                </a:solidFill>
              </a:rPr>
              <a:t>Solar Pond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525963"/>
          </a:xfrm>
          <a:ln>
            <a:solidFill>
              <a:srgbClr val="92D050"/>
            </a:solidFill>
          </a:ln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 smtClean="0">
                <a:solidFill>
                  <a:srgbClr val="00B050"/>
                </a:solidFill>
              </a:rPr>
              <a:t>Input : </a:t>
            </a:r>
          </a:p>
          <a:p>
            <a:pPr marL="571500" indent="-571500">
              <a:buAutoNum type="romanLcParenBoth"/>
            </a:pPr>
            <a:r>
              <a:rPr lang="en-US" dirty="0" err="1" smtClean="0">
                <a:solidFill>
                  <a:srgbClr val="00B050"/>
                </a:solidFill>
              </a:rPr>
              <a:t>Pyranometer</a:t>
            </a:r>
            <a:r>
              <a:rPr lang="en-US" dirty="0" smtClean="0">
                <a:solidFill>
                  <a:srgbClr val="00B050"/>
                </a:solidFill>
              </a:rPr>
              <a:t> Reading (Solar Irradiation)</a:t>
            </a:r>
          </a:p>
          <a:p>
            <a:pPr marL="571500" indent="-571500">
              <a:buAutoNum type="romanLcParenBoth"/>
            </a:pPr>
            <a:r>
              <a:rPr lang="en-US" dirty="0" smtClean="0">
                <a:solidFill>
                  <a:srgbClr val="00B050"/>
                </a:solidFill>
              </a:rPr>
              <a:t>Inlet water temperature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002060"/>
                </a:solidFill>
              </a:rPr>
              <a:t>Output: 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002060"/>
                </a:solidFill>
              </a:rPr>
              <a:t>(i) Two (Outlet Water Temperature)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002060"/>
                </a:solidFill>
              </a:rPr>
              <a:t>(ii) </a:t>
            </a:r>
            <a:r>
              <a:rPr lang="en-US" dirty="0" err="1" smtClean="0">
                <a:solidFill>
                  <a:srgbClr val="002060"/>
                </a:solidFill>
              </a:rPr>
              <a:t>Qact</a:t>
            </a:r>
            <a:r>
              <a:rPr lang="en-US" dirty="0" smtClean="0">
                <a:solidFill>
                  <a:srgbClr val="002060"/>
                </a:solidFill>
              </a:rPr>
              <a:t> (Energy Extracted)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002060"/>
                </a:solidFill>
              </a:rPr>
              <a:t>(iii) Efficiency of Solar Pond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002060"/>
                </a:solidFill>
              </a:rPr>
              <a:t>(iv) Effectiveness of HX</a:t>
            </a:r>
          </a:p>
          <a:p>
            <a:pPr marL="0" indent="0">
              <a:buNone/>
            </a:pPr>
            <a:r>
              <a:rPr lang="en-US" dirty="0" smtClean="0"/>
              <a:t>Conditions:</a:t>
            </a:r>
          </a:p>
          <a:p>
            <a:pPr lvl="1"/>
            <a:r>
              <a:rPr lang="en-US" dirty="0"/>
              <a:t>Zero </a:t>
            </a:r>
            <a:r>
              <a:rPr lang="en-US" dirty="0" smtClean="0"/>
              <a:t>twist twisted tape</a:t>
            </a:r>
            <a:endParaRPr lang="en-US" dirty="0"/>
          </a:p>
          <a:p>
            <a:pPr lvl="1"/>
            <a:r>
              <a:rPr lang="en-US" dirty="0"/>
              <a:t>Three </a:t>
            </a:r>
            <a:r>
              <a:rPr lang="en-US" dirty="0" smtClean="0"/>
              <a:t>twists </a:t>
            </a:r>
            <a:r>
              <a:rPr lang="en-US" dirty="0"/>
              <a:t>twisted tape</a:t>
            </a:r>
          </a:p>
          <a:p>
            <a:pPr lvl="1"/>
            <a:r>
              <a:rPr lang="en-US" dirty="0" smtClean="0"/>
              <a:t>Five twists </a:t>
            </a:r>
            <a:r>
              <a:rPr lang="en-US" dirty="0"/>
              <a:t>twisted tape</a:t>
            </a:r>
          </a:p>
          <a:p>
            <a:pPr lvl="1"/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81362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715962"/>
          </a:xfrm>
        </p:spPr>
        <p:txBody>
          <a:bodyPr>
            <a:normAutofit/>
          </a:bodyPr>
          <a:lstStyle/>
          <a:p>
            <a:r>
              <a:rPr lang="en-US" sz="3600" dirty="0" smtClean="0">
                <a:solidFill>
                  <a:srgbClr val="C00000"/>
                </a:solidFill>
              </a:rPr>
              <a:t>Lab Exercise 2</a:t>
            </a:r>
            <a:endParaRPr lang="en-US" sz="3600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135563"/>
          </a:xfrm>
          <a:ln>
            <a:solidFill>
              <a:srgbClr val="92D050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 smtClean="0">
                <a:solidFill>
                  <a:srgbClr val="002060"/>
                </a:solidFill>
              </a:rPr>
              <a:t>Consider 25 observations from in the given </a:t>
            </a:r>
            <a:r>
              <a:rPr lang="en-US" sz="1800" dirty="0" err="1" smtClean="0">
                <a:solidFill>
                  <a:srgbClr val="002060"/>
                </a:solidFill>
              </a:rPr>
              <a:t>dataframe</a:t>
            </a:r>
            <a:r>
              <a:rPr lang="en-US" sz="1800" dirty="0" smtClean="0">
                <a:solidFill>
                  <a:srgbClr val="002060"/>
                </a:solidFill>
              </a:rPr>
              <a:t> titled ‘data’, store first 5 observations (6:00-08:00 ) in ‘data1’, next 10 observations(8:30-13:00) in ‘data2’ and the last 11 observations (13:00-18:00) in ‘data3’. Perform the following using R Programming,</a:t>
            </a:r>
          </a:p>
          <a:p>
            <a:pPr marL="400050" indent="-400050">
              <a:buAutoNum type="romanLcParenBoth"/>
            </a:pPr>
            <a:r>
              <a:rPr lang="en-US" sz="1800" dirty="0" err="1" smtClean="0">
                <a:solidFill>
                  <a:srgbClr val="002060"/>
                </a:solidFill>
              </a:rPr>
              <a:t>rbind</a:t>
            </a:r>
            <a:r>
              <a:rPr lang="en-US" sz="1800" dirty="0" smtClean="0">
                <a:solidFill>
                  <a:srgbClr val="002060"/>
                </a:solidFill>
              </a:rPr>
              <a:t> (data1, dat2)</a:t>
            </a:r>
          </a:p>
          <a:p>
            <a:pPr marL="400050" indent="-400050">
              <a:buAutoNum type="romanLcParenBoth"/>
            </a:pPr>
            <a:r>
              <a:rPr lang="en-US" sz="1800" dirty="0" smtClean="0">
                <a:solidFill>
                  <a:srgbClr val="002060"/>
                </a:solidFill>
              </a:rPr>
              <a:t>Store LCZ(TT=0), LCZ(TT=3), LCZ(TT=5), in variables V1, V2 and V3 respectively. </a:t>
            </a:r>
            <a:r>
              <a:rPr lang="en-US" sz="1800" dirty="0" err="1" smtClean="0">
                <a:solidFill>
                  <a:srgbClr val="002060"/>
                </a:solidFill>
              </a:rPr>
              <a:t>Cbind</a:t>
            </a:r>
            <a:r>
              <a:rPr lang="en-US" sz="1800" dirty="0" smtClean="0">
                <a:solidFill>
                  <a:srgbClr val="002060"/>
                </a:solidFill>
              </a:rPr>
              <a:t> all these three columns.</a:t>
            </a:r>
          </a:p>
          <a:p>
            <a:pPr marL="400050" indent="-400050">
              <a:buAutoNum type="romanLcParenBoth"/>
            </a:pPr>
            <a:r>
              <a:rPr lang="en-US" sz="1800" dirty="0" smtClean="0">
                <a:solidFill>
                  <a:srgbClr val="002060"/>
                </a:solidFill>
              </a:rPr>
              <a:t>Plot Time </a:t>
            </a:r>
            <a:r>
              <a:rPr lang="en-US" sz="1800" dirty="0" err="1" smtClean="0">
                <a:solidFill>
                  <a:srgbClr val="002060"/>
                </a:solidFill>
              </a:rPr>
              <a:t>Vs</a:t>
            </a:r>
            <a:r>
              <a:rPr lang="en-US" sz="1800" dirty="0" smtClean="0">
                <a:solidFill>
                  <a:srgbClr val="002060"/>
                </a:solidFill>
              </a:rPr>
              <a:t> </a:t>
            </a:r>
            <a:r>
              <a:rPr lang="en-US" sz="1800" dirty="0" err="1" smtClean="0">
                <a:solidFill>
                  <a:srgbClr val="002060"/>
                </a:solidFill>
              </a:rPr>
              <a:t>Pyranometer</a:t>
            </a:r>
            <a:r>
              <a:rPr lang="en-US" sz="1800" dirty="0" smtClean="0">
                <a:solidFill>
                  <a:srgbClr val="002060"/>
                </a:solidFill>
              </a:rPr>
              <a:t> reading of ‘data’</a:t>
            </a:r>
          </a:p>
          <a:p>
            <a:pPr marL="400050" indent="-400050">
              <a:buAutoNum type="romanLcParenBoth"/>
            </a:pPr>
            <a:r>
              <a:rPr lang="en-US" sz="1800" dirty="0" smtClean="0">
                <a:solidFill>
                  <a:srgbClr val="002060"/>
                </a:solidFill>
              </a:rPr>
              <a:t>Plot </a:t>
            </a:r>
            <a:r>
              <a:rPr lang="en-US" sz="1800" dirty="0" err="1">
                <a:solidFill>
                  <a:srgbClr val="002060"/>
                </a:solidFill>
              </a:rPr>
              <a:t>P</a:t>
            </a:r>
            <a:r>
              <a:rPr lang="en-US" sz="1800" dirty="0" err="1" smtClean="0">
                <a:solidFill>
                  <a:srgbClr val="002060"/>
                </a:solidFill>
              </a:rPr>
              <a:t>yranometer</a:t>
            </a:r>
            <a:r>
              <a:rPr lang="en-US" sz="1800" dirty="0" smtClean="0">
                <a:solidFill>
                  <a:srgbClr val="002060"/>
                </a:solidFill>
              </a:rPr>
              <a:t> reading </a:t>
            </a:r>
            <a:r>
              <a:rPr lang="en-US" sz="1800" dirty="0" err="1" smtClean="0">
                <a:solidFill>
                  <a:srgbClr val="002060"/>
                </a:solidFill>
              </a:rPr>
              <a:t>Vs</a:t>
            </a:r>
            <a:r>
              <a:rPr lang="en-US" sz="1800" dirty="0" smtClean="0">
                <a:solidFill>
                  <a:srgbClr val="002060"/>
                </a:solidFill>
              </a:rPr>
              <a:t> Two</a:t>
            </a:r>
          </a:p>
          <a:p>
            <a:pPr marL="400050" indent="-400050">
              <a:buFont typeface="Arial" pitchFamily="34" charset="0"/>
              <a:buAutoNum type="romanLcParenBoth"/>
            </a:pPr>
            <a:r>
              <a:rPr lang="en-US" sz="1800" dirty="0" smtClean="0">
                <a:solidFill>
                  <a:srgbClr val="002060"/>
                </a:solidFill>
              </a:rPr>
              <a:t>Plot </a:t>
            </a:r>
            <a:r>
              <a:rPr lang="en-US" sz="1800" dirty="0" err="1">
                <a:solidFill>
                  <a:srgbClr val="002060"/>
                </a:solidFill>
              </a:rPr>
              <a:t>Pyranometer</a:t>
            </a:r>
            <a:r>
              <a:rPr lang="en-US" sz="1800" dirty="0">
                <a:solidFill>
                  <a:srgbClr val="002060"/>
                </a:solidFill>
              </a:rPr>
              <a:t> reading </a:t>
            </a:r>
            <a:r>
              <a:rPr lang="en-US" sz="1800" dirty="0" err="1">
                <a:solidFill>
                  <a:srgbClr val="002060"/>
                </a:solidFill>
              </a:rPr>
              <a:t>Vs</a:t>
            </a:r>
            <a:r>
              <a:rPr lang="en-US" sz="1800" dirty="0">
                <a:solidFill>
                  <a:srgbClr val="002060"/>
                </a:solidFill>
              </a:rPr>
              <a:t> </a:t>
            </a:r>
            <a:r>
              <a:rPr lang="en-US" sz="1800" dirty="0" err="1" smtClean="0">
                <a:solidFill>
                  <a:srgbClr val="002060"/>
                </a:solidFill>
              </a:rPr>
              <a:t>Qact</a:t>
            </a:r>
            <a:endParaRPr lang="en-US" sz="1800" dirty="0" smtClean="0">
              <a:solidFill>
                <a:srgbClr val="002060"/>
              </a:solidFill>
            </a:endParaRPr>
          </a:p>
          <a:p>
            <a:pPr marL="400050" indent="-400050">
              <a:buFont typeface="Arial" pitchFamily="34" charset="0"/>
              <a:buAutoNum type="romanLcParenBoth"/>
            </a:pPr>
            <a:r>
              <a:rPr lang="en-US" sz="1800" dirty="0" err="1">
                <a:solidFill>
                  <a:srgbClr val="002060"/>
                </a:solidFill>
              </a:rPr>
              <a:t>Pyranometer</a:t>
            </a:r>
            <a:r>
              <a:rPr lang="en-US" sz="1800" dirty="0">
                <a:solidFill>
                  <a:srgbClr val="002060"/>
                </a:solidFill>
              </a:rPr>
              <a:t> reading </a:t>
            </a:r>
            <a:r>
              <a:rPr lang="en-US" sz="1800" dirty="0" err="1">
                <a:solidFill>
                  <a:srgbClr val="002060"/>
                </a:solidFill>
              </a:rPr>
              <a:t>Vs</a:t>
            </a:r>
            <a:r>
              <a:rPr lang="en-US" sz="1800" dirty="0">
                <a:solidFill>
                  <a:srgbClr val="002060"/>
                </a:solidFill>
              </a:rPr>
              <a:t> </a:t>
            </a:r>
            <a:r>
              <a:rPr lang="en-US" sz="1800" dirty="0" smtClean="0">
                <a:solidFill>
                  <a:srgbClr val="002060"/>
                </a:solidFill>
              </a:rPr>
              <a:t>degree of temperature rise</a:t>
            </a:r>
          </a:p>
          <a:p>
            <a:pPr marL="400050" indent="-400050">
              <a:buFont typeface="Arial" pitchFamily="34" charset="0"/>
              <a:buAutoNum type="romanLcParenBoth"/>
            </a:pPr>
            <a:r>
              <a:rPr lang="en-US" sz="1800" dirty="0" smtClean="0">
                <a:solidFill>
                  <a:srgbClr val="002060"/>
                </a:solidFill>
              </a:rPr>
              <a:t>Determine the best linear fit equation between </a:t>
            </a:r>
            <a:r>
              <a:rPr lang="en-US" sz="1800" dirty="0" err="1" smtClean="0">
                <a:solidFill>
                  <a:srgbClr val="002060"/>
                </a:solidFill>
              </a:rPr>
              <a:t>Pyranometer</a:t>
            </a:r>
            <a:r>
              <a:rPr lang="en-US" sz="1800" dirty="0" smtClean="0">
                <a:solidFill>
                  <a:srgbClr val="002060"/>
                </a:solidFill>
              </a:rPr>
              <a:t> reading and Two/</a:t>
            </a:r>
            <a:r>
              <a:rPr lang="en-US" sz="1800" dirty="0" err="1" smtClean="0">
                <a:solidFill>
                  <a:srgbClr val="002060"/>
                </a:solidFill>
              </a:rPr>
              <a:t>Qact</a:t>
            </a:r>
            <a:r>
              <a:rPr lang="en-US" sz="1800" dirty="0" smtClean="0">
                <a:solidFill>
                  <a:srgbClr val="002060"/>
                </a:solidFill>
              </a:rPr>
              <a:t>/Efficiency/Effectiveness</a:t>
            </a:r>
          </a:p>
          <a:p>
            <a:pPr marL="400050" indent="-400050">
              <a:buFont typeface="Arial" pitchFamily="34" charset="0"/>
              <a:buAutoNum type="romanLcParenBoth"/>
            </a:pPr>
            <a:r>
              <a:rPr lang="en-US" sz="1800" dirty="0" smtClean="0">
                <a:solidFill>
                  <a:srgbClr val="002060"/>
                </a:solidFill>
              </a:rPr>
              <a:t> Plot the best linear fit</a:t>
            </a:r>
          </a:p>
          <a:p>
            <a:pPr marL="400050" indent="-400050">
              <a:buFont typeface="Arial" pitchFamily="34" charset="0"/>
              <a:buAutoNum type="romanLcParenBoth"/>
            </a:pPr>
            <a:r>
              <a:rPr lang="en-US" sz="1800" dirty="0" smtClean="0">
                <a:solidFill>
                  <a:srgbClr val="002060"/>
                </a:solidFill>
              </a:rPr>
              <a:t>Determine the Residual Sum of Squares (RSS)</a:t>
            </a:r>
          </a:p>
          <a:p>
            <a:pPr marL="400050" indent="-400050">
              <a:buFont typeface="Arial" pitchFamily="34" charset="0"/>
              <a:buAutoNum type="romanLcParenBoth"/>
            </a:pPr>
            <a:r>
              <a:rPr lang="en-US" sz="1800" dirty="0" smtClean="0">
                <a:solidFill>
                  <a:srgbClr val="002060"/>
                </a:solidFill>
              </a:rPr>
              <a:t>Plot the residuals.</a:t>
            </a:r>
            <a:endParaRPr lang="en-US" sz="1800" dirty="0">
              <a:solidFill>
                <a:srgbClr val="002060"/>
              </a:solidFill>
            </a:endParaRPr>
          </a:p>
          <a:p>
            <a:pPr marL="400050" indent="-400050">
              <a:buFont typeface="Arial" pitchFamily="34" charset="0"/>
              <a:buAutoNum type="romanLcParenBoth"/>
            </a:pPr>
            <a:endParaRPr lang="en-US" sz="1800" dirty="0">
              <a:solidFill>
                <a:srgbClr val="002060"/>
              </a:solidFill>
            </a:endParaRPr>
          </a:p>
          <a:p>
            <a:pPr marL="400050" indent="-400050">
              <a:buAutoNum type="romanLcParenBoth"/>
            </a:pPr>
            <a:endParaRPr lang="en-US" sz="18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72220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4D07BD021E904459824B955328F2E0B" ma:contentTypeVersion="2" ma:contentTypeDescription="Create a new document." ma:contentTypeScope="" ma:versionID="0497b6b0401bbf6cf4298e579c8abd1d">
  <xsd:schema xmlns:xsd="http://www.w3.org/2001/XMLSchema" xmlns:xs="http://www.w3.org/2001/XMLSchema" xmlns:p="http://schemas.microsoft.com/office/2006/metadata/properties" xmlns:ns2="9fca7e2f-1d91-4205-8625-6a4f6bd28f8b" targetNamespace="http://schemas.microsoft.com/office/2006/metadata/properties" ma:root="true" ma:fieldsID="0271082d51e2a7be1664463781b253ff" ns2:_="">
    <xsd:import namespace="9fca7e2f-1d91-4205-8625-6a4f6bd28f8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fca7e2f-1d91-4205-8625-6a4f6bd28f8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04DD88F-123B-4A36-AC46-7FCBABEC66A6}"/>
</file>

<file path=customXml/itemProps2.xml><?xml version="1.0" encoding="utf-8"?>
<ds:datastoreItem xmlns:ds="http://schemas.openxmlformats.org/officeDocument/2006/customXml" ds:itemID="{2B0866B4-6C86-467C-A2D2-4088C15043AC}"/>
</file>

<file path=customXml/itemProps3.xml><?xml version="1.0" encoding="utf-8"?>
<ds:datastoreItem xmlns:ds="http://schemas.openxmlformats.org/officeDocument/2006/customXml" ds:itemID="{64CCAFC0-C84F-426F-AF71-94EA925C5660}"/>
</file>

<file path=docProps/app.xml><?xml version="1.0" encoding="utf-8"?>
<Properties xmlns="http://schemas.openxmlformats.org/officeDocument/2006/extended-properties" xmlns:vt="http://schemas.openxmlformats.org/officeDocument/2006/docPropsVTypes">
  <TotalTime>424</TotalTime>
  <Words>203</Words>
  <Application>Microsoft Office PowerPoint</Application>
  <PresentationFormat>On-screen Show (4:3)</PresentationFormat>
  <Paragraphs>28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Lab Exercise 2</vt:lpstr>
      <vt:lpstr>Solar Pond</vt:lpstr>
      <vt:lpstr>Lab Exercise 2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Windows User</cp:lastModifiedBy>
  <cp:revision>9</cp:revision>
  <dcterms:created xsi:type="dcterms:W3CDTF">2022-01-07T04:23:06Z</dcterms:created>
  <dcterms:modified xsi:type="dcterms:W3CDTF">2022-01-21T02:26:59Z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0x010100C4D07BD021E904459824B955328F2E0B</vt:lpwstr>
  </property>
</Properties>
</file>